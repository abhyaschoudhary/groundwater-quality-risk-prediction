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Arsenic</c:v>
                </c:pt>
                <c:pt idx="1">
                  <c:v>Nitrate</c:v>
                </c:pt>
                <c:pt idx="2">
                  <c:v>Fluoride</c:v>
                </c:pt>
                <c:pt idx="3">
                  <c:v>pH</c:v>
                </c:pt>
                <c:pt idx="4">
                  <c:v>Iron</c:v>
                </c:pt>
                <c:pt idx="5">
                  <c:v>TDS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56.8</c:v>
                </c:pt>
                <c:pt idx="1">
                  <c:v>17.2</c:v>
                </c:pt>
                <c:pt idx="2">
                  <c:v>9.1</c:v>
                </c:pt>
                <c:pt idx="3">
                  <c:v>7.7</c:v>
                </c:pt>
                <c:pt idx="4">
                  <c:v>5.3</c:v>
                </c:pt>
                <c:pt idx="5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25-43FE-83F6-5F20B2909F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D7E3F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FFFFF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9228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hart" Target="../charts/chart1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0.png"/><Relationship Id="rId5" Type="http://schemas.openxmlformats.org/officeDocument/2006/relationships/image" Target="../media/image16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13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24.png"/><Relationship Id="rId5" Type="http://schemas.openxmlformats.org/officeDocument/2006/relationships/image" Target="../media/image22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5.png"/><Relationship Id="rId9" Type="http://schemas.openxmlformats.org/officeDocument/2006/relationships/image" Target="../media/image5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7.png"/><Relationship Id="rId5" Type="http://schemas.openxmlformats.org/officeDocument/2006/relationships/image" Target="../media/image32.png"/><Relationship Id="rId10" Type="http://schemas.openxmlformats.org/officeDocument/2006/relationships/image" Target="../media/image36.png"/><Relationship Id="rId4" Type="http://schemas.openxmlformats.org/officeDocument/2006/relationships/image" Target="../media/image5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PBEL INTERNSHIP  ·  TECHNICAL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6002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Groundwater Quality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Predictor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649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Drinking Water Safety Prediction using Machine Learning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74920"/>
            <a:ext cx="5486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193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Abhyas Choudhary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55955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R.R Group Of Modern Technology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5833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PBEL Internship  ·  Machine Learning Track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1280160"/>
            <a:ext cx="4297680" cy="4297680"/>
          </a:xfrm>
          <a:prstGeom prst="ellipse">
            <a:avLst/>
          </a:prstGeom>
          <a:solidFill>
            <a:srgbClr val="FFFFFF">
              <a:alpha val="4000"/>
            </a:srgbClr>
          </a:solidFill>
          <a:ln w="15875">
            <a:solidFill>
              <a:srgbClr val="22D3EE">
                <a:alpha val="5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1737360"/>
            <a:ext cx="3383280" cy="338328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286000"/>
            <a:ext cx="2286000" cy="2286000"/>
          </a:xfrm>
          <a:prstGeom prst="ellipse">
            <a:avLst/>
          </a:prstGeom>
          <a:solidFill>
            <a:srgbClr val="0E2A52">
              <a:alpha val="90000"/>
            </a:srgbClr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2" name="Image 0" descr="icons/dropl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898648"/>
            <a:ext cx="1005840" cy="10058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69480" y="109728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4" name="Image 1" descr="icons/flas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1243584"/>
            <a:ext cx="365760" cy="36576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1887200" y="2011680"/>
            <a:ext cx="658368" cy="658368"/>
          </a:xfrm>
          <a:prstGeom prst="ellipse">
            <a:avLst/>
          </a:prstGeom>
          <a:solidFill>
            <a:srgbClr val="2563EB"/>
          </a:solidFill>
          <a:ln/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6" name="Image 2" descr="icons/robo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3504" y="2157984"/>
            <a:ext cx="365760" cy="3657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1658600" y="521208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8" name="Image 3" descr="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4904" y="5358384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100" dirty="0">
                <a:solidFill>
                  <a:srgbClr val="8FA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IS 10500:2012 Compliant  ·  Random Forest Classifier  ·  Streamlit Dashboard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Lab Delay to Instant Insight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47088"/>
            <a:ext cx="566928" cy="566928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6" name="Image 0" descr="icons/flas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83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Laboratory Testing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86968" y="2880360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3026664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61288" y="2798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Sample Collection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6968" y="3483864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0120" y="3630168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61288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to Laboratory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86968" y="4087368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0120" y="4233672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61288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Analysis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886968" y="4690872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60120" y="4837176"/>
            <a:ext cx="0" cy="493776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61288" y="4608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Report Generation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886968" y="5294376"/>
            <a:ext cx="146304" cy="14630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61288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886968" y="5276088"/>
            <a:ext cx="4581144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3" name="Text 20"/>
          <p:cNvSpPr/>
          <p:nvPr/>
        </p:nvSpPr>
        <p:spPr>
          <a:xfrm>
            <a:off x="886968" y="5276088"/>
            <a:ext cx="4581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 Days</a:t>
            </a:r>
            <a:endParaRPr lang="en-US" sz="2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turnaround for results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6336792" y="1481328"/>
            <a:ext cx="5349240" cy="4709160"/>
          </a:xfrm>
          <a:prstGeom prst="roundRect">
            <a:avLst>
              <a:gd name="adj" fmla="val 2330"/>
            </a:avLst>
          </a:prstGeom>
          <a:solidFill>
            <a:srgbClr val="0B1F3A"/>
          </a:solidFill>
          <a:ln/>
          <a:effectLst>
            <a:outerShdw blurRad="152400" dist="381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720840" y="1847088"/>
            <a:ext cx="566928" cy="566928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6" name="Image 1" descr="icons/robo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984248"/>
            <a:ext cx="292608" cy="29260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7434072" y="1883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AI-Based Solution</a:t>
            </a:r>
            <a:endParaRPr lang="en-US" sz="1600" dirty="0"/>
          </a:p>
        </p:txBody>
      </p:sp>
      <p:sp>
        <p:nvSpPr>
          <p:cNvPr id="28" name="Shape 24"/>
          <p:cNvSpPr/>
          <p:nvPr/>
        </p:nvSpPr>
        <p:spPr>
          <a:xfrm>
            <a:off x="6720840" y="2880360"/>
            <a:ext cx="146304" cy="14630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793992" y="3026664"/>
            <a:ext cx="0" cy="493776"/>
          </a:xfrm>
          <a:prstGeom prst="line">
            <a:avLst/>
          </a:prstGeom>
          <a:noFill/>
          <a:ln w="19050">
            <a:solidFill>
              <a:srgbClr val="2A3F6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995160" y="27980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Sample Parameters</a:t>
            </a:r>
            <a:endParaRPr lang="en-US" sz="1350" dirty="0"/>
          </a:p>
        </p:txBody>
      </p:sp>
      <p:sp>
        <p:nvSpPr>
          <p:cNvPr id="31" name="Shape 27"/>
          <p:cNvSpPr/>
          <p:nvPr/>
        </p:nvSpPr>
        <p:spPr>
          <a:xfrm>
            <a:off x="6720840" y="3483864"/>
            <a:ext cx="146304" cy="14630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793992" y="3630168"/>
            <a:ext cx="0" cy="493776"/>
          </a:xfrm>
          <a:prstGeom prst="line">
            <a:avLst/>
          </a:prstGeom>
          <a:noFill/>
          <a:ln w="19050">
            <a:solidFill>
              <a:srgbClr val="2A3F6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9516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350" dirty="0"/>
          </a:p>
        </p:txBody>
      </p:sp>
      <p:sp>
        <p:nvSpPr>
          <p:cNvPr id="34" name="Shape 30"/>
          <p:cNvSpPr/>
          <p:nvPr/>
        </p:nvSpPr>
        <p:spPr>
          <a:xfrm>
            <a:off x="6720840" y="4087368"/>
            <a:ext cx="146304" cy="14630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6793992" y="4233672"/>
            <a:ext cx="0" cy="493776"/>
          </a:xfrm>
          <a:prstGeom prst="line">
            <a:avLst/>
          </a:prstGeom>
          <a:noFill/>
          <a:ln w="19050">
            <a:solidFill>
              <a:srgbClr val="2A3F63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995160" y="40050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Prediction</a:t>
            </a:r>
            <a:endParaRPr lang="en-US" sz="1350" dirty="0"/>
          </a:p>
        </p:txBody>
      </p:sp>
      <p:sp>
        <p:nvSpPr>
          <p:cNvPr id="37" name="Shape 33"/>
          <p:cNvSpPr/>
          <p:nvPr/>
        </p:nvSpPr>
        <p:spPr>
          <a:xfrm>
            <a:off x="6720840" y="4690872"/>
            <a:ext cx="146304" cy="14630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793992" y="4837176"/>
            <a:ext cx="0" cy="493776"/>
          </a:xfrm>
          <a:prstGeom prst="line">
            <a:avLst/>
          </a:prstGeom>
          <a:noFill/>
          <a:ln w="19050">
            <a:solidFill>
              <a:srgbClr val="2A3F63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995160" y="460857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Unsafe Classification</a:t>
            </a:r>
            <a:endParaRPr lang="en-US" sz="1350" dirty="0"/>
          </a:p>
        </p:txBody>
      </p:sp>
      <p:sp>
        <p:nvSpPr>
          <p:cNvPr id="40" name="Shape 36"/>
          <p:cNvSpPr/>
          <p:nvPr/>
        </p:nvSpPr>
        <p:spPr>
          <a:xfrm>
            <a:off x="6720840" y="5294376"/>
            <a:ext cx="146304" cy="146304"/>
          </a:xfrm>
          <a:prstGeom prst="ellipse">
            <a:avLst/>
          </a:prstGeom>
          <a:solidFill>
            <a:srgbClr val="0B1F3A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99516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</a:t>
            </a:r>
            <a:endParaRPr lang="en-US" sz="1350" dirty="0"/>
          </a:p>
        </p:txBody>
      </p:sp>
      <p:sp>
        <p:nvSpPr>
          <p:cNvPr id="42" name="Shape 38"/>
          <p:cNvSpPr/>
          <p:nvPr/>
        </p:nvSpPr>
        <p:spPr>
          <a:xfrm>
            <a:off x="6720840" y="5276088"/>
            <a:ext cx="4581144" cy="640080"/>
          </a:xfrm>
          <a:prstGeom prst="roundRect">
            <a:avLst>
              <a:gd name="adj" fmla="val 14286"/>
            </a:avLst>
          </a:prstGeom>
          <a:solidFill>
            <a:srgbClr val="12315A"/>
          </a:solidFill>
          <a:ln/>
        </p:spPr>
      </p:sp>
      <p:sp>
        <p:nvSpPr>
          <p:cNvPr id="43" name="Text 39"/>
          <p:cNvSpPr/>
          <p:nvPr/>
        </p:nvSpPr>
        <p:spPr>
          <a:xfrm>
            <a:off x="6720840" y="5276088"/>
            <a:ext cx="45811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</a:t>
            </a:r>
            <a:endParaRPr lang="en-US" sz="20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explainable prediction</a:t>
            </a:r>
            <a:endParaRPr lang="en-US" sz="2000" dirty="0"/>
          </a:p>
        </p:txBody>
      </p:sp>
      <p:sp>
        <p:nvSpPr>
          <p:cNvPr id="44" name="Text 40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Real Government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68833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mage 0" descr="icons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9019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3957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77240" y="29077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Covered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28416" y="1481328"/>
            <a:ext cx="268833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02736" y="1773936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icons/databas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0752" y="19019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23957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1,106</a:t>
            </a:r>
            <a:endParaRPr lang="en-US" sz="2500" dirty="0"/>
          </a:p>
        </p:txBody>
      </p:sp>
      <p:sp>
        <p:nvSpPr>
          <p:cNvPr id="13" name="Text 9"/>
          <p:cNvSpPr/>
          <p:nvPr/>
        </p:nvSpPr>
        <p:spPr>
          <a:xfrm>
            <a:off x="3602736" y="29077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Samples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53912" y="1481328"/>
            <a:ext cx="268833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28232" y="1773936"/>
            <a:ext cx="512064" cy="51206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2" descr="icons/csv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9019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28232" y="23957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2018–20</a:t>
            </a:r>
            <a:endParaRPr lang="en-US" sz="2500" dirty="0"/>
          </a:p>
        </p:txBody>
      </p:sp>
      <p:sp>
        <p:nvSpPr>
          <p:cNvPr id="18" name="Text 13"/>
          <p:cNvSpPr/>
          <p:nvPr/>
        </p:nvSpPr>
        <p:spPr>
          <a:xfrm>
            <a:off x="6428232" y="29077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Post-Monsoon Years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979408" y="1481328"/>
            <a:ext cx="2688336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53728" y="1773936"/>
            <a:ext cx="512064" cy="51206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3" descr="icons/drople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1744" y="19019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53728" y="2395728"/>
            <a:ext cx="21396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CGWB</a:t>
            </a:r>
            <a:endParaRPr lang="en-US" sz="2500" dirty="0"/>
          </a:p>
        </p:txBody>
      </p:sp>
      <p:sp>
        <p:nvSpPr>
          <p:cNvPr id="23" name="Text 17"/>
          <p:cNvSpPr/>
          <p:nvPr/>
        </p:nvSpPr>
        <p:spPr>
          <a:xfrm>
            <a:off x="9253728" y="2907792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Govt. Dataset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3794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QUALITY PARAMETERS EVALUATED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02920" y="4297680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116128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7" name="Image 4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872" y="461772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0292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2423160" y="4297680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08152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1" name="Image 5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2112" y="461772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42316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4361688" y="4332203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00176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5" name="Image 6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2352" y="4617720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34340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Fluoride</a:t>
            </a:r>
            <a:endParaRPr lang="en-US" sz="1350" dirty="0"/>
          </a:p>
        </p:txBody>
      </p:sp>
      <p:sp>
        <p:nvSpPr>
          <p:cNvPr id="37" name="Shape 28"/>
          <p:cNvSpPr/>
          <p:nvPr/>
        </p:nvSpPr>
        <p:spPr>
          <a:xfrm>
            <a:off x="6263640" y="4297680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692200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9" name="Image 7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2592" y="4617720"/>
            <a:ext cx="274320" cy="27432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26364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Nitrate</a:t>
            </a:r>
            <a:endParaRPr lang="en-US" sz="1350" dirty="0"/>
          </a:p>
        </p:txBody>
      </p:sp>
      <p:sp>
        <p:nvSpPr>
          <p:cNvPr id="41" name="Shape 31"/>
          <p:cNvSpPr/>
          <p:nvPr/>
        </p:nvSpPr>
        <p:spPr>
          <a:xfrm>
            <a:off x="8183880" y="4297680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2" name="Shape 32"/>
          <p:cNvSpPr/>
          <p:nvPr/>
        </p:nvSpPr>
        <p:spPr>
          <a:xfrm>
            <a:off x="884224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3" name="Image 8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2832" y="4617720"/>
            <a:ext cx="274320" cy="27432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818388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Arsenic</a:t>
            </a:r>
            <a:endParaRPr lang="en-US" sz="1350" dirty="0"/>
          </a:p>
        </p:txBody>
      </p:sp>
      <p:sp>
        <p:nvSpPr>
          <p:cNvPr id="45" name="Shape 34"/>
          <p:cNvSpPr/>
          <p:nvPr/>
        </p:nvSpPr>
        <p:spPr>
          <a:xfrm>
            <a:off x="10104120" y="4297680"/>
            <a:ext cx="1792224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6" name="Shape 35"/>
          <p:cNvSpPr/>
          <p:nvPr/>
        </p:nvSpPr>
        <p:spPr>
          <a:xfrm>
            <a:off x="10762488" y="45171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7" name="Image 9" descr="icons/via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63072" y="4617720"/>
            <a:ext cx="274320" cy="27432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10104120" y="5166360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</a:t>
            </a:r>
            <a:endParaRPr lang="en-US" sz="1350" dirty="0"/>
          </a:p>
        </p:txBody>
      </p:sp>
      <p:sp>
        <p:nvSpPr>
          <p:cNvPr id="49" name="Text 37"/>
          <p:cNvSpPr/>
          <p:nvPr/>
        </p:nvSpPr>
        <p:spPr>
          <a:xfrm>
            <a:off x="502920" y="6126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Central Ground Water Board (CGWB)  ·  Post-Monsoon Dataset  · </a:t>
            </a:r>
            <a:endParaRPr lang="en-US" sz="1050" dirty="0"/>
          </a:p>
        </p:txBody>
      </p:sp>
      <p:sp>
        <p:nvSpPr>
          <p:cNvPr id="50" name="Text 38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Project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361188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" y="3300984"/>
            <a:ext cx="621792" cy="621792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56432"/>
            <a:ext cx="310896" cy="3108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2798064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8" name="Shape 5"/>
          <p:cNvSpPr/>
          <p:nvPr/>
        </p:nvSpPr>
        <p:spPr>
          <a:xfrm>
            <a:off x="246888" y="183794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92608" y="191109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92608" y="22585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CGWB readings loaded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125327" y="3300984"/>
            <a:ext cx="621792" cy="621792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2" name="Image 1" descr="icons/broo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0775" y="3456432"/>
            <a:ext cx="310896" cy="31089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436223" y="3922776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1722991" y="442569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768711" y="449884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768711" y="48463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clean_data() standardizes columns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3601430" y="3300984"/>
            <a:ext cx="621792" cy="621792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8" name="Image 2" descr="icons/lay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878" y="3456432"/>
            <a:ext cx="310896" cy="31089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912326" y="2798064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20" name="Shape 15"/>
          <p:cNvSpPr/>
          <p:nvPr/>
        </p:nvSpPr>
        <p:spPr>
          <a:xfrm>
            <a:off x="3199094" y="183794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3244814" y="191109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244814" y="22585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Alias-matched parameters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5077533" y="3300984"/>
            <a:ext cx="621792" cy="621792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24" name="Image 3" descr="icons/sca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2981" y="3456432"/>
            <a:ext cx="310896" cy="310896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388429" y="3922776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4675197" y="442569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720917" y="449884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Rule Engine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720917" y="48463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is_unsafe() applies IS 10500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6553635" y="3300984"/>
            <a:ext cx="621792" cy="621792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30" name="Image 4" descr="icon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9083" y="3456432"/>
            <a:ext cx="310896" cy="310896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864531" y="2798064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6151299" y="183794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3" name="Text 26"/>
          <p:cNvSpPr/>
          <p:nvPr/>
        </p:nvSpPr>
        <p:spPr>
          <a:xfrm>
            <a:off x="6197019" y="191109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6197019" y="22585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train_model() fits classifier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8029738" y="3300984"/>
            <a:ext cx="621792" cy="621792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36" name="Image 5" descr="icon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85186" y="3456432"/>
            <a:ext cx="310896" cy="310896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8340634" y="3922776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38" name="Shape 30"/>
          <p:cNvSpPr/>
          <p:nvPr/>
        </p:nvSpPr>
        <p:spPr>
          <a:xfrm>
            <a:off x="7627402" y="442569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7673122" y="449884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7673122" y="48463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Unsafe output</a:t>
            </a:r>
            <a:endParaRPr lang="en-US" sz="850" dirty="0"/>
          </a:p>
        </p:txBody>
      </p:sp>
      <p:sp>
        <p:nvSpPr>
          <p:cNvPr id="41" name="Shape 33"/>
          <p:cNvSpPr/>
          <p:nvPr/>
        </p:nvSpPr>
        <p:spPr>
          <a:xfrm>
            <a:off x="9505841" y="3300984"/>
            <a:ext cx="621792" cy="621792"/>
          </a:xfrm>
          <a:prstGeom prst="ellipse">
            <a:avLst/>
          </a:prstGeom>
          <a:solidFill>
            <a:srgbClr val="2563EB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42" name="Image 6" descr="icons/magnifycha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1289" y="3456432"/>
            <a:ext cx="310896" cy="310896"/>
          </a:xfrm>
          <a:prstGeom prst="rect">
            <a:avLst/>
          </a:prstGeom>
        </p:spPr>
      </p:pic>
      <p:sp>
        <p:nvSpPr>
          <p:cNvPr id="43" name="Shape 34"/>
          <p:cNvSpPr/>
          <p:nvPr/>
        </p:nvSpPr>
        <p:spPr>
          <a:xfrm>
            <a:off x="9816737" y="2798064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44" name="Shape 35"/>
          <p:cNvSpPr/>
          <p:nvPr/>
        </p:nvSpPr>
        <p:spPr>
          <a:xfrm>
            <a:off x="9103505" y="1837944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5" name="Text 36"/>
          <p:cNvSpPr/>
          <p:nvPr/>
        </p:nvSpPr>
        <p:spPr>
          <a:xfrm>
            <a:off x="9149225" y="1911096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9149225" y="2258568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get_primary_concern()</a:t>
            </a:r>
            <a:endParaRPr lang="en-US" sz="850" dirty="0"/>
          </a:p>
        </p:txBody>
      </p:sp>
      <p:sp>
        <p:nvSpPr>
          <p:cNvPr id="47" name="Shape 38"/>
          <p:cNvSpPr/>
          <p:nvPr/>
        </p:nvSpPr>
        <p:spPr>
          <a:xfrm>
            <a:off x="10981944" y="3300984"/>
            <a:ext cx="621792" cy="621792"/>
          </a:xfrm>
          <a:prstGeom prst="ellipse">
            <a:avLst/>
          </a:prstGeom>
          <a:solidFill>
            <a:srgbClr val="0891B2"/>
          </a:solidFill>
          <a:ln w="381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48" name="Image 7" descr="icons/desktop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37392" y="3456432"/>
            <a:ext cx="310896" cy="310896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11292840" y="3922776"/>
            <a:ext cx="0" cy="502920"/>
          </a:xfrm>
          <a:prstGeom prst="line">
            <a:avLst/>
          </a:prstGeom>
          <a:noFill/>
          <a:ln w="15875">
            <a:solidFill>
              <a:srgbClr val="E2E8F0"/>
            </a:solidFill>
            <a:prstDash val="dash"/>
          </a:ln>
        </p:spPr>
      </p:sp>
      <p:sp>
        <p:nvSpPr>
          <p:cNvPr id="50" name="Shape 40"/>
          <p:cNvSpPr/>
          <p:nvPr/>
        </p:nvSpPr>
        <p:spPr>
          <a:xfrm>
            <a:off x="10579608" y="4425696"/>
            <a:ext cx="142646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1" name="Text 41"/>
          <p:cNvSpPr/>
          <p:nvPr/>
        </p:nvSpPr>
        <p:spPr>
          <a:xfrm>
            <a:off x="10625328" y="4498848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2" name="Text 42"/>
          <p:cNvSpPr/>
          <p:nvPr/>
        </p:nvSpPr>
        <p:spPr>
          <a:xfrm>
            <a:off x="10625328" y="484632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interface</a:t>
            </a:r>
            <a:endParaRPr lang="en-US" sz="850" dirty="0"/>
          </a:p>
        </p:txBody>
      </p:sp>
      <p:sp>
        <p:nvSpPr>
          <p:cNvPr id="53" name="Text 43"/>
          <p:cNvSpPr/>
          <p:nvPr/>
        </p:nvSpPr>
        <p:spPr>
          <a:xfrm>
            <a:off x="50292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implemented as a pure, independently-tested Python function — the same pipeline powers the CLI and the Streamlit app.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55" name="Text 45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Random Forest Decides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9222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" name="Image 0" descr="icons/vi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19019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7048" y="16916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27048" y="20025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· TDS · Fluoride · Nitrate · Arsenic · Iron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115568" y="2441448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85800" y="269748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86968" y="288950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icons/codebranch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299923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27048" y="278892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Decision Trees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527048" y="309981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200, trained on bootstrapped samples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1115568" y="3538728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685800" y="379476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86968" y="39867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8" name="Image 2" descr="icons/circlenode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696" y="4096512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527048" y="3886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Voting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527048" y="41970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casts a vote on the outcome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1115568" y="4636008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85800" y="4892040"/>
            <a:ext cx="512064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 w="12700">
            <a:solidFill>
              <a:srgbClr val="24447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86968" y="508406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4" name="Image 3" descr="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696" y="5193792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527048" y="498348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1527048" y="529437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 or  Unsafe, with confidence score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446520" y="16002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446520" y="2011680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9" name="Image 4" descr="icons/gaug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7104" y="2112264"/>
            <a:ext cx="219456" cy="21945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031736" y="19842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031736" y="224942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voting reduces variance vs. a single tree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446520" y="2578608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3" name="Image 5" descr="icons/shiel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7104" y="2679192"/>
            <a:ext cx="219456" cy="21945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031736" y="2551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7031736" y="2816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noise and outlier readings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446520" y="3145536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7" name="Image 6" descr="icons/magnifychar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7104" y="3246120"/>
            <a:ext cx="219456" cy="21945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031736" y="31181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7031736" y="3383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shows what drives risk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6446520" y="3712464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41" name="Image 7" descr="icons/bolt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7104" y="3813048"/>
            <a:ext cx="219456" cy="21945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031736" y="36850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31736" y="395020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 inference, ideal for a live dashboard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6446520" y="4279392"/>
            <a:ext cx="420624" cy="420624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5" name="Image 8" descr="icons/sitemap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47104" y="4379976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7031736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Nonlinear Data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7031736" y="45171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hard BIS threshold cut-offs naturally</a:t>
            </a:r>
            <a:endParaRPr lang="en-US" sz="1000" dirty="0"/>
          </a:p>
        </p:txBody>
      </p:sp>
      <p:sp>
        <p:nvSpPr>
          <p:cNvPr id="48" name="Text 37"/>
          <p:cNvSpPr/>
          <p:nvPr/>
        </p:nvSpPr>
        <p:spPr>
          <a:xfrm>
            <a:off x="6446520" y="5074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(TRAINED MODEL OUTPUT)</a:t>
            </a:r>
            <a:endParaRPr lang="en-US" sz="1050" dirty="0"/>
          </a:p>
        </p:txBody>
      </p:sp>
      <p:graphicFrame>
        <p:nvGraphicFramePr>
          <p:cNvPr id="49" name="Chart 0"/>
          <p:cNvGraphicFramePr/>
          <p:nvPr/>
        </p:nvGraphicFramePr>
        <p:xfrm>
          <a:off x="6446520" y="5349240"/>
          <a:ext cx="507492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50" name="Text 38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51" name="Text 3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5" name="Image 0" descr="icons/locationdo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682496"/>
            <a:ext cx="237744" cy="2377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61288" y="1527048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325880" y="152704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703320" y="152704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district or enters custom readings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31520" y="2029968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176272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icons/deskto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2286000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61288" y="2130552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1325880" y="213055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703320" y="213055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interactive web interface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31520" y="2633472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02920" y="277977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2" descr="icons/gea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2889504"/>
            <a:ext cx="237744" cy="23774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161288" y="2734056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1325880" y="273405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3703320" y="2734056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project.py — pipeline orchestration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31520" y="3236976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2920" y="338328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3" name="Image 3" descr="icons/bro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3493008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1161288" y="3337560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1325880" y="33375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3703320" y="3337560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clean_data() — alias-matching &amp; cleanup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31520" y="3840480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9" name="Image 4" descr="icons/sitema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" y="4096512"/>
            <a:ext cx="237744" cy="237744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161288" y="3941064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1325880" y="39410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3703320" y="3941064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 — loaded via joblib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731520" y="4443984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502920" y="459028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5" name="Image 5" descr="icons/magnify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" y="4700016"/>
            <a:ext cx="237744" cy="237744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1161288" y="4544568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1325880" y="45445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Engine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3703320" y="4544568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Unsafe classification + confidence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731520" y="5047488"/>
            <a:ext cx="0" cy="146304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02920" y="519379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41" name="Image 6" descr="icons/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648" y="5303520"/>
            <a:ext cx="237744" cy="237744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1161288" y="5148072"/>
            <a:ext cx="6245352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3" name="Text 34"/>
          <p:cNvSpPr/>
          <p:nvPr/>
        </p:nvSpPr>
        <p:spPr>
          <a:xfrm>
            <a:off x="1325880" y="51480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Primary Concern</a:t>
            </a:r>
            <a:endParaRPr lang="en-US" sz="1250" dirty="0"/>
          </a:p>
        </p:txBody>
      </p:sp>
      <p:sp>
        <p:nvSpPr>
          <p:cNvPr id="44" name="Text 35"/>
          <p:cNvSpPr/>
          <p:nvPr/>
        </p:nvSpPr>
        <p:spPr>
          <a:xfrm>
            <a:off x="3703320" y="5148072"/>
            <a:ext cx="3611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get_primary_concern() explains the outcome</a:t>
            </a:r>
            <a:endParaRPr lang="en-US" sz="1050" dirty="0"/>
          </a:p>
        </p:txBody>
      </p:sp>
      <p:sp>
        <p:nvSpPr>
          <p:cNvPr id="45" name="Shape 36"/>
          <p:cNvSpPr/>
          <p:nvPr/>
        </p:nvSpPr>
        <p:spPr>
          <a:xfrm>
            <a:off x="7726680" y="1554480"/>
            <a:ext cx="3977640" cy="4663440"/>
          </a:xfrm>
          <a:prstGeom prst="roundRect">
            <a:avLst>
              <a:gd name="adj" fmla="val 2759"/>
            </a:avLst>
          </a:prstGeom>
          <a:solidFill>
            <a:srgbClr val="0B1F3A"/>
          </a:solidFill>
          <a:ln/>
          <a:effectLst>
            <a:outerShdw blurRad="152400" dist="381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46" name="Text 37"/>
          <p:cNvSpPr/>
          <p:nvPr/>
        </p:nvSpPr>
        <p:spPr>
          <a:xfrm>
            <a:off x="8046720" y="18288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8046720" y="233172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48" name="Shape 39"/>
          <p:cNvSpPr/>
          <p:nvPr/>
        </p:nvSpPr>
        <p:spPr>
          <a:xfrm>
            <a:off x="8211312" y="252374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49" name="Image 7" descr="icons/python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2633472"/>
            <a:ext cx="237744" cy="237744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759952" y="233172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51" name="Shape 41"/>
          <p:cNvSpPr/>
          <p:nvPr/>
        </p:nvSpPr>
        <p:spPr>
          <a:xfrm>
            <a:off x="9715500" y="233172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52" name="Shape 42"/>
          <p:cNvSpPr/>
          <p:nvPr/>
        </p:nvSpPr>
        <p:spPr>
          <a:xfrm>
            <a:off x="9880092" y="252374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3" name="Image 8" descr="icons/panda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89820" y="2633472"/>
            <a:ext cx="237744" cy="237744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10428732" y="233172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55" name="Shape 44"/>
          <p:cNvSpPr/>
          <p:nvPr/>
        </p:nvSpPr>
        <p:spPr>
          <a:xfrm>
            <a:off x="8046720" y="333756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56" name="Shape 45"/>
          <p:cNvSpPr/>
          <p:nvPr/>
        </p:nvSpPr>
        <p:spPr>
          <a:xfrm>
            <a:off x="8211312" y="352958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57" name="Image 9" descr="icons/numpy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21040" y="3639312"/>
            <a:ext cx="237744" cy="237744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8759952" y="333756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50" dirty="0"/>
          </a:p>
        </p:txBody>
      </p:sp>
      <p:sp>
        <p:nvSpPr>
          <p:cNvPr id="59" name="Shape 47"/>
          <p:cNvSpPr/>
          <p:nvPr/>
        </p:nvSpPr>
        <p:spPr>
          <a:xfrm>
            <a:off x="9715500" y="333756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60" name="Shape 48"/>
          <p:cNvSpPr/>
          <p:nvPr/>
        </p:nvSpPr>
        <p:spPr>
          <a:xfrm>
            <a:off x="9880092" y="352958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1" name="Image 10" descr="icons/sklearn_whi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989820" y="3639312"/>
            <a:ext cx="237744" cy="237744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0428732" y="333756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63" name="Shape 50"/>
          <p:cNvSpPr/>
          <p:nvPr/>
        </p:nvSpPr>
        <p:spPr>
          <a:xfrm>
            <a:off x="8046720" y="434340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64" name="Shape 51"/>
          <p:cNvSpPr/>
          <p:nvPr/>
        </p:nvSpPr>
        <p:spPr>
          <a:xfrm>
            <a:off x="8211312" y="453542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65" name="Image 11" descr="icons/joblib_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21040" y="4645152"/>
            <a:ext cx="237744" cy="237744"/>
          </a:xfrm>
          <a:prstGeom prst="rect">
            <a:avLst/>
          </a:prstGeom>
        </p:spPr>
      </p:pic>
      <p:sp>
        <p:nvSpPr>
          <p:cNvPr id="66" name="Text 52"/>
          <p:cNvSpPr/>
          <p:nvPr/>
        </p:nvSpPr>
        <p:spPr>
          <a:xfrm>
            <a:off x="8759952" y="434340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Joblib</a:t>
            </a:r>
            <a:endParaRPr lang="en-US" sz="1150" dirty="0"/>
          </a:p>
        </p:txBody>
      </p:sp>
      <p:sp>
        <p:nvSpPr>
          <p:cNvPr id="67" name="Shape 53"/>
          <p:cNvSpPr/>
          <p:nvPr/>
        </p:nvSpPr>
        <p:spPr>
          <a:xfrm>
            <a:off x="9715500" y="434340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68" name="Shape 54"/>
          <p:cNvSpPr/>
          <p:nvPr/>
        </p:nvSpPr>
        <p:spPr>
          <a:xfrm>
            <a:off x="9880092" y="4535424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9" name="Image 12" descr="icons/streamlit_whit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89820" y="4645152"/>
            <a:ext cx="237744" cy="237744"/>
          </a:xfrm>
          <a:prstGeom prst="rect">
            <a:avLst/>
          </a:prstGeom>
        </p:spPr>
      </p:pic>
      <p:sp>
        <p:nvSpPr>
          <p:cNvPr id="70" name="Text 55"/>
          <p:cNvSpPr/>
          <p:nvPr/>
        </p:nvSpPr>
        <p:spPr>
          <a:xfrm>
            <a:off x="10428732" y="434340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71" name="Shape 56"/>
          <p:cNvSpPr/>
          <p:nvPr/>
        </p:nvSpPr>
        <p:spPr>
          <a:xfrm>
            <a:off x="8046720" y="5349240"/>
            <a:ext cx="1531620" cy="841248"/>
          </a:xfrm>
          <a:prstGeom prst="roundRect">
            <a:avLst>
              <a:gd name="adj" fmla="val 10870"/>
            </a:avLst>
          </a:prstGeom>
          <a:solidFill>
            <a:srgbClr val="112A50"/>
          </a:solidFill>
          <a:ln/>
        </p:spPr>
      </p:sp>
      <p:sp>
        <p:nvSpPr>
          <p:cNvPr id="72" name="Shape 57"/>
          <p:cNvSpPr/>
          <p:nvPr/>
        </p:nvSpPr>
        <p:spPr>
          <a:xfrm>
            <a:off x="8211312" y="554126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3" name="Image 13" descr="icons/pytest_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321040" y="5650992"/>
            <a:ext cx="237744" cy="237744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8759952" y="5349240"/>
            <a:ext cx="8001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50" dirty="0"/>
          </a:p>
        </p:txBody>
      </p:sp>
      <p:sp>
        <p:nvSpPr>
          <p:cNvPr id="75" name="Text 59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76" name="Text 60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62456" y="1937035"/>
            <a:ext cx="640080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B1F3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6400800" cy="384048"/>
          </a:xfrm>
          <a:prstGeom prst="roundRect">
            <a:avLst>
              <a:gd name="adj" fmla="val 23810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6400800" cy="2011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45920"/>
            <a:ext cx="118872" cy="118872"/>
          </a:xfrm>
          <a:prstGeom prst="ellipse">
            <a:avLst/>
          </a:prstGeom>
          <a:solidFill>
            <a:srgbClr val="E2554F"/>
          </a:solidFill>
          <a:ln/>
        </p:spPr>
      </p:sp>
      <p:sp>
        <p:nvSpPr>
          <p:cNvPr id="8" name="Shape 6"/>
          <p:cNvSpPr/>
          <p:nvPr/>
        </p:nvSpPr>
        <p:spPr>
          <a:xfrm>
            <a:off x="905256" y="1645920"/>
            <a:ext cx="118872" cy="118872"/>
          </a:xfrm>
          <a:prstGeom prst="ellipse">
            <a:avLst/>
          </a:prstGeom>
          <a:solidFill>
            <a:srgbClr val="E7B23B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" y="1645920"/>
            <a:ext cx="118872" cy="118872"/>
          </a:xfrm>
          <a:prstGeom prst="ellipse">
            <a:avLst/>
          </a:prstGeom>
          <a:solidFill>
            <a:srgbClr val="3FB458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087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Risk Predictor — Streamlit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20574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057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Predict by District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0" y="20574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0574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Custom Water Test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2624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2880360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2880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Telangana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03320" y="262432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03320" y="2880360"/>
            <a:ext cx="2651760" cy="402336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288036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Nalgonda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3447288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44728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041648"/>
            <a:ext cx="5852160" cy="868680"/>
          </a:xfrm>
          <a:prstGeom prst="roundRect">
            <a:avLst>
              <a:gd name="adj" fmla="val 8421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1513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Risk Level: SAFE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94%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69080" y="4498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concern: None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50932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readings for this district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5385816"/>
            <a:ext cx="117043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3858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947672" y="5385816"/>
            <a:ext cx="117043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1947672" y="53858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18104" y="5385816"/>
            <a:ext cx="117043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3" name="Text 31"/>
          <p:cNvSpPr/>
          <p:nvPr/>
        </p:nvSpPr>
        <p:spPr>
          <a:xfrm>
            <a:off x="3118104" y="53858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88536" y="5385816"/>
            <a:ext cx="117043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5" name="Text 33"/>
          <p:cNvSpPr/>
          <p:nvPr/>
        </p:nvSpPr>
        <p:spPr>
          <a:xfrm>
            <a:off x="4288536" y="53858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Fluoride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58968" y="5385816"/>
            <a:ext cx="1170432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7" name="Text 35"/>
          <p:cNvSpPr/>
          <p:nvPr/>
        </p:nvSpPr>
        <p:spPr>
          <a:xfrm>
            <a:off x="5458968" y="538581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77240" y="566013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660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47672" y="566013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47672" y="5660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18104" y="566013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18104" y="5660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612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288536" y="566013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88536" y="5660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58968" y="566013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58968" y="56601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18.4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77240" y="5934456"/>
            <a:ext cx="117043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59344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947672" y="5934456"/>
            <a:ext cx="117043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947672" y="59344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18104" y="5934456"/>
            <a:ext cx="117043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18104" y="59344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288536" y="5934456"/>
            <a:ext cx="117043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88536" y="59344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58968" y="5934456"/>
            <a:ext cx="1170432" cy="27432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58968" y="593445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" y="620877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6208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947672" y="620877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947672" y="6208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18104" y="620877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18104" y="6208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601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288536" y="620877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288536" y="6208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458968" y="6208776"/>
            <a:ext cx="117043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458968" y="6208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16.7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223760" y="1508760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9" name="Image 0" descr="icons/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618488"/>
            <a:ext cx="237744" cy="237744"/>
          </a:xfrm>
          <a:prstGeom prst="rect">
            <a:avLst/>
          </a:prstGeom>
        </p:spPr>
      </p:pic>
      <p:sp>
        <p:nvSpPr>
          <p:cNvPr id="70" name="Text 67"/>
          <p:cNvSpPr/>
          <p:nvPr/>
        </p:nvSpPr>
        <p:spPr>
          <a:xfrm>
            <a:off x="7845552" y="14904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Prediction</a:t>
            </a:r>
            <a:endParaRPr lang="en-US" sz="1300" dirty="0"/>
          </a:p>
        </p:txBody>
      </p:sp>
      <p:sp>
        <p:nvSpPr>
          <p:cNvPr id="71" name="Text 68"/>
          <p:cNvSpPr/>
          <p:nvPr/>
        </p:nvSpPr>
        <p:spPr>
          <a:xfrm>
            <a:off x="7845552" y="17647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average risk per district</a:t>
            </a:r>
            <a:endParaRPr lang="en-US" sz="1050" dirty="0"/>
          </a:p>
        </p:txBody>
      </p:sp>
      <p:sp>
        <p:nvSpPr>
          <p:cNvPr id="72" name="Shape 69"/>
          <p:cNvSpPr/>
          <p:nvPr/>
        </p:nvSpPr>
        <p:spPr>
          <a:xfrm>
            <a:off x="7223760" y="24414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73" name="Image 1" descr="icons/vial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3488" y="2551176"/>
            <a:ext cx="237744" cy="237744"/>
          </a:xfrm>
          <a:prstGeom prst="rect">
            <a:avLst/>
          </a:prstGeom>
        </p:spPr>
      </p:pic>
      <p:sp>
        <p:nvSpPr>
          <p:cNvPr id="74" name="Text 70"/>
          <p:cNvSpPr/>
          <p:nvPr/>
        </p:nvSpPr>
        <p:spPr>
          <a:xfrm>
            <a:off x="7845552" y="242316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Water Testing</a:t>
            </a:r>
            <a:endParaRPr lang="en-US" sz="1300" dirty="0"/>
          </a:p>
        </p:txBody>
      </p:sp>
      <p:sp>
        <p:nvSpPr>
          <p:cNvPr id="75" name="Text 71"/>
          <p:cNvSpPr/>
          <p:nvPr/>
        </p:nvSpPr>
        <p:spPr>
          <a:xfrm>
            <a:off x="7845552" y="26974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own readings for instant results</a:t>
            </a:r>
            <a:endParaRPr lang="en-US" sz="1050" dirty="0"/>
          </a:p>
        </p:txBody>
      </p:sp>
      <p:sp>
        <p:nvSpPr>
          <p:cNvPr id="76" name="Shape 72"/>
          <p:cNvSpPr/>
          <p:nvPr/>
        </p:nvSpPr>
        <p:spPr>
          <a:xfrm>
            <a:off x="7223760" y="3374136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77" name="Image 2" descr="icons/gau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3488" y="3483864"/>
            <a:ext cx="237744" cy="237744"/>
          </a:xfrm>
          <a:prstGeom prst="rect">
            <a:avLst/>
          </a:prstGeom>
        </p:spPr>
      </p:pic>
      <p:sp>
        <p:nvSpPr>
          <p:cNvPr id="78" name="Text 73"/>
          <p:cNvSpPr/>
          <p:nvPr/>
        </p:nvSpPr>
        <p:spPr>
          <a:xfrm>
            <a:off x="7845552" y="33558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</a:t>
            </a:r>
            <a:endParaRPr lang="en-US" sz="1300" dirty="0"/>
          </a:p>
        </p:txBody>
      </p:sp>
      <p:sp>
        <p:nvSpPr>
          <p:cNvPr id="79" name="Text 74"/>
          <p:cNvSpPr/>
          <p:nvPr/>
        </p:nvSpPr>
        <p:spPr>
          <a:xfrm>
            <a:off x="7845552" y="36301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certainty behind every prediction</a:t>
            </a:r>
            <a:endParaRPr lang="en-US" sz="1050" dirty="0"/>
          </a:p>
        </p:txBody>
      </p:sp>
      <p:sp>
        <p:nvSpPr>
          <p:cNvPr id="80" name="Shape 75"/>
          <p:cNvSpPr/>
          <p:nvPr/>
        </p:nvSpPr>
        <p:spPr>
          <a:xfrm>
            <a:off x="7223760" y="4306824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81" name="Image 3" descr="icons/magnify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3488" y="4416552"/>
            <a:ext cx="237744" cy="237744"/>
          </a:xfrm>
          <a:prstGeom prst="rect">
            <a:avLst/>
          </a:prstGeom>
        </p:spPr>
      </p:pic>
      <p:sp>
        <p:nvSpPr>
          <p:cNvPr id="82" name="Text 76"/>
          <p:cNvSpPr/>
          <p:nvPr/>
        </p:nvSpPr>
        <p:spPr>
          <a:xfrm>
            <a:off x="7845552" y="428853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Concern Detection</a:t>
            </a:r>
            <a:endParaRPr lang="en-US" sz="1300" dirty="0"/>
          </a:p>
        </p:txBody>
      </p:sp>
      <p:sp>
        <p:nvSpPr>
          <p:cNvPr id="83" name="Text 77"/>
          <p:cNvSpPr/>
          <p:nvPr/>
        </p:nvSpPr>
        <p:spPr>
          <a:xfrm>
            <a:off x="7845552" y="456285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exact contaminant responsible</a:t>
            </a:r>
            <a:endParaRPr lang="en-US" sz="1050" dirty="0"/>
          </a:p>
        </p:txBody>
      </p:sp>
      <p:sp>
        <p:nvSpPr>
          <p:cNvPr id="84" name="Shape 78"/>
          <p:cNvSpPr/>
          <p:nvPr/>
        </p:nvSpPr>
        <p:spPr>
          <a:xfrm>
            <a:off x="7223760" y="5239512"/>
            <a:ext cx="457200" cy="45720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85" name="Image 4" descr="icons/chartlin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5349240"/>
            <a:ext cx="237744" cy="237744"/>
          </a:xfrm>
          <a:prstGeom prst="rect">
            <a:avLst/>
          </a:prstGeom>
        </p:spPr>
      </p:pic>
      <p:sp>
        <p:nvSpPr>
          <p:cNvPr id="86" name="Text 79"/>
          <p:cNvSpPr/>
          <p:nvPr/>
        </p:nvSpPr>
        <p:spPr>
          <a:xfrm>
            <a:off x="7845552" y="522122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View</a:t>
            </a:r>
            <a:endParaRPr lang="en-US" sz="1300" dirty="0"/>
          </a:p>
        </p:txBody>
      </p:sp>
      <p:sp>
        <p:nvSpPr>
          <p:cNvPr id="87" name="Text 80"/>
          <p:cNvSpPr/>
          <p:nvPr/>
        </p:nvSpPr>
        <p:spPr>
          <a:xfrm>
            <a:off x="7845552" y="5495544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Year-wise readings for context</a:t>
            </a:r>
            <a:endParaRPr lang="en-US" sz="1050" dirty="0"/>
          </a:p>
        </p:txBody>
      </p:sp>
      <p:sp>
        <p:nvSpPr>
          <p:cNvPr id="88" name="Text 81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89" name="Text 82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4980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3703320"/>
            <a:ext cx="10332720" cy="0"/>
          </a:xfrm>
          <a:prstGeom prst="line">
            <a:avLst/>
          </a:prstGeom>
          <a:noFill/>
          <a:ln w="25400">
            <a:solidFill>
              <a:srgbClr val="35507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3410712"/>
            <a:ext cx="585216" cy="585216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6" name="Image 0" descr="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3557016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60120" y="3044952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8" name="Text 5"/>
          <p:cNvSpPr/>
          <p:nvPr/>
        </p:nvSpPr>
        <p:spPr>
          <a:xfrm>
            <a:off x="182880" y="2542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Project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43615" y="3410712"/>
            <a:ext cx="585216" cy="585216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0" name="Image 1" descr="icons/clou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919" y="355701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436223" y="3995928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12" name="Text 8"/>
          <p:cNvSpPr/>
          <p:nvPr/>
        </p:nvSpPr>
        <p:spPr>
          <a:xfrm>
            <a:off x="1658983" y="4361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19718" y="341071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4" name="Image 2" descr="icons/microc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6022" y="3557016"/>
            <a:ext cx="292608" cy="292608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912326" y="3044952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16" name="Text 11"/>
          <p:cNvSpPr/>
          <p:nvPr/>
        </p:nvSpPr>
        <p:spPr>
          <a:xfrm>
            <a:off x="3135086" y="2542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Water Sensors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095821" y="3410712"/>
            <a:ext cx="585216" cy="585216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18" name="Image 3" descr="icons/satellit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2125" y="3557016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388429" y="3995928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20" name="Text 14"/>
          <p:cNvSpPr/>
          <p:nvPr/>
        </p:nvSpPr>
        <p:spPr>
          <a:xfrm>
            <a:off x="4611189" y="4361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6571923" y="341071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22" name="Image 4" descr="icons/map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8227" y="3557016"/>
            <a:ext cx="292608" cy="292608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864531" y="3044952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24" name="Text 17"/>
          <p:cNvSpPr/>
          <p:nvPr/>
        </p:nvSpPr>
        <p:spPr>
          <a:xfrm>
            <a:off x="6087291" y="2542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Risk Mapping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048026" y="3410712"/>
            <a:ext cx="585216" cy="585216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26" name="Image 5" descr="icons/landmar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4330" y="3557016"/>
            <a:ext cx="292608" cy="29260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340634" y="3995928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28" name="Text 20"/>
          <p:cNvSpPr/>
          <p:nvPr/>
        </p:nvSpPr>
        <p:spPr>
          <a:xfrm>
            <a:off x="7563394" y="4361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Dashboard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9524129" y="3410712"/>
            <a:ext cx="585216" cy="585216"/>
          </a:xfrm>
          <a:prstGeom prst="ellipse">
            <a:avLst/>
          </a:prstGeom>
          <a:solidFill>
            <a:srgbClr val="2563EB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30" name="Image 6" descr="icons/mobil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0433" y="3557016"/>
            <a:ext cx="292608" cy="292608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816737" y="3044952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32" name="Text 23"/>
          <p:cNvSpPr/>
          <p:nvPr/>
        </p:nvSpPr>
        <p:spPr>
          <a:xfrm>
            <a:off x="9039497" y="25420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11000232" y="3410712"/>
            <a:ext cx="585216" cy="585216"/>
          </a:xfrm>
          <a:prstGeom prst="ellipse">
            <a:avLst/>
          </a:prstGeom>
          <a:solidFill>
            <a:srgbClr val="0891B2"/>
          </a:solidFill>
          <a:ln w="3175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pic>
        <p:nvPicPr>
          <p:cNvPr id="34" name="Image 7" descr="icons/sm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6536" y="3557016"/>
            <a:ext cx="292608" cy="292608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11292840" y="3995928"/>
            <a:ext cx="0" cy="365760"/>
          </a:xfrm>
          <a:prstGeom prst="line">
            <a:avLst/>
          </a:prstGeom>
          <a:noFill/>
          <a:ln w="15875">
            <a:solidFill>
              <a:srgbClr val="35507C"/>
            </a:solidFill>
            <a:prstDash val="dash"/>
          </a:ln>
        </p:spPr>
      </p:sp>
      <p:sp>
        <p:nvSpPr>
          <p:cNvPr id="36" name="Text 26"/>
          <p:cNvSpPr/>
          <p:nvPr/>
        </p:nvSpPr>
        <p:spPr>
          <a:xfrm>
            <a:off x="10515600" y="43616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Alerts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50292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is complete and operational today. Steps 2–8 chart the path from a working prototype to a state-wide early-warning system.</a:t>
            </a:r>
            <a:endParaRPr lang="en-US" sz="1200" dirty="0"/>
          </a:p>
        </p:txBody>
      </p:sp>
      <p:sp>
        <p:nvSpPr>
          <p:cNvPr id="38" name="Text 28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39" name="Text 29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389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84632" y="731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01368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icons/databas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92938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246888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Government Dataset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528" y="282549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1,106 samples across 33  districts, sourced from CGWB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61104" y="15087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801368"/>
            <a:ext cx="530352" cy="53035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11" name="Image 1" descr="icons/sitemap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92938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6888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53712" y="282549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on BIS-labeled data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19288" y="1508760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11896" y="1801368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6" name="Image 2" descr="icons/magnify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293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11896" y="2468880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11896" y="2825496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names its primary contaminant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3639312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" y="3931920"/>
            <a:ext cx="530352" cy="53035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21" name="Image 3" descr="icons/deskto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4059936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" y="45994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95528" y="495604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for district lookup and custom testing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61104" y="3639312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31920"/>
            <a:ext cx="530352" cy="530352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6" name="Image 4" descr="icons/codebranch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1728" y="4059936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45994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53712" y="495604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Alias-based cleaning adapts to any new dataset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19288" y="3639312"/>
            <a:ext cx="363931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11896" y="3931920"/>
            <a:ext cx="530352" cy="530352"/>
          </a:xfrm>
          <a:prstGeom prst="ellipse">
            <a:avLst/>
          </a:prstGeom>
          <a:solidFill>
            <a:srgbClr val="0891B2"/>
          </a:solidFill>
          <a:ln/>
        </p:spPr>
      </p:sp>
      <p:pic>
        <p:nvPicPr>
          <p:cNvPr id="31" name="Image 5" descr="icons/vial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05993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11896" y="4599432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Testing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11896" y="4956048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coverage on every core function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50292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GROUNDWATER QUALITY RISK PREDICTOR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5105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92040" y="960120"/>
            <a:ext cx="2200504" cy="2103120"/>
          </a:xfrm>
          <a:prstGeom prst="ellips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2D3E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icons/dropl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672" y="1623060"/>
            <a:ext cx="777240" cy="777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429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0" y="41605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983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Abhyas Choudhary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532180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9C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R.R Group Of Modern Technology  ·  IBM PBEL Internship</a:t>
            </a:r>
            <a:endParaRPr lang="en-US" sz="12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725AA56-6D51-FDB2-BAFB-D865BA140DC1}"/>
              </a:ext>
            </a:extLst>
          </p:cNvPr>
          <p:cNvGrpSpPr/>
          <p:nvPr/>
        </p:nvGrpSpPr>
        <p:grpSpPr>
          <a:xfrm>
            <a:off x="2214728" y="5897880"/>
            <a:ext cx="365760" cy="365760"/>
            <a:chOff x="3352648" y="5897880"/>
            <a:chExt cx="365760" cy="365760"/>
          </a:xfrm>
        </p:grpSpPr>
        <p:sp>
          <p:nvSpPr>
            <p:cNvPr id="8" name="Shape 5"/>
            <p:cNvSpPr>
              <a:spLocks/>
            </p:cNvSpPr>
            <p:nvPr/>
          </p:nvSpPr>
          <p:spPr>
            <a:xfrm>
              <a:off x="3352648" y="5897880"/>
              <a:ext cx="365760" cy="365760"/>
            </a:xfrm>
            <a:prstGeom prst="ellipse">
              <a:avLst/>
            </a:prstGeom>
            <a:solidFill>
              <a:srgbClr val="112A50"/>
            </a:solidFill>
            <a:ln w="12700">
              <a:solidFill>
                <a:srgbClr val="22D3EE"/>
              </a:solidFill>
              <a:prstDash val="solid"/>
            </a:ln>
          </p:spPr>
        </p:sp>
        <p:pic>
          <p:nvPicPr>
            <p:cNvPr id="9" name="Image 1" descr="icons/linkedin_whit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34944" y="5980176"/>
              <a:ext cx="201168" cy="201168"/>
            </a:xfrm>
            <a:prstGeom prst="rect">
              <a:avLst/>
            </a:prstGeom>
          </p:spPr>
        </p:pic>
      </p:grpSp>
      <p:sp>
        <p:nvSpPr>
          <p:cNvPr id="10" name="Text 6"/>
          <p:cNvSpPr/>
          <p:nvPr/>
        </p:nvSpPr>
        <p:spPr>
          <a:xfrm>
            <a:off x="3809848" y="5897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181448" y="5897880"/>
            <a:ext cx="365760" cy="365760"/>
          </a:xfrm>
          <a:prstGeom prst="ellipse">
            <a:avLst/>
          </a:prstGeom>
          <a:solidFill>
            <a:srgbClr val="112A50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2" name="Image 2" descr="icons/github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3744" y="5980176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73600" y="5897880"/>
            <a:ext cx="231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dirty="0">
                <a:solidFill>
                  <a:schemeClr val="bg2"/>
                </a:solidFill>
              </a:rPr>
              <a:t>https://github.com/abhyaschoudhary</a:t>
            </a:r>
          </a:p>
        </p:txBody>
      </p:sp>
      <p:sp>
        <p:nvSpPr>
          <p:cNvPr id="14" name="Shape 9"/>
          <p:cNvSpPr/>
          <p:nvPr/>
        </p:nvSpPr>
        <p:spPr>
          <a:xfrm>
            <a:off x="7990688" y="5897880"/>
            <a:ext cx="365760" cy="365760"/>
          </a:xfrm>
          <a:prstGeom prst="ellipse">
            <a:avLst/>
          </a:prstGeom>
          <a:solidFill>
            <a:srgbClr val="112A50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5" name="Image 3" descr="icons/envelop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984" y="5980176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42200" y="5897880"/>
            <a:ext cx="2003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abhyaschoudhary@gmail.com</a:t>
            </a:r>
            <a:endParaRPr lang="en-US" sz="11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38C0B7-AC4A-1742-97E0-069DD67943C5}"/>
              </a:ext>
            </a:extLst>
          </p:cNvPr>
          <p:cNvSpPr txBox="1"/>
          <p:nvPr/>
        </p:nvSpPr>
        <p:spPr>
          <a:xfrm>
            <a:off x="2610968" y="5970651"/>
            <a:ext cx="2682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50" dirty="0">
                <a:solidFill>
                  <a:schemeClr val="bg2"/>
                </a:solidFill>
              </a:rPr>
              <a:t>www.linkedin.com/in/abhyaschoudhary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714</Words>
  <Application>Microsoft Office PowerPoint</Application>
  <PresentationFormat>Widescreen</PresentationFormat>
  <Paragraphs>211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Abhyas Choudhary</cp:lastModifiedBy>
  <cp:revision>5</cp:revision>
  <dcterms:created xsi:type="dcterms:W3CDTF">2026-07-17T08:22:59Z</dcterms:created>
  <dcterms:modified xsi:type="dcterms:W3CDTF">2026-07-20T10:58:15Z</dcterms:modified>
</cp:coreProperties>
</file>